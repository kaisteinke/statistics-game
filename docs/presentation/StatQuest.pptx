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546" autoAdjust="0"/>
  </p:normalViewPr>
  <p:slideViewPr>
    <p:cSldViewPr snapToGrid="0" snapToObjects="1">
      <p:cViewPr varScale="1">
        <p:scale>
          <a:sx n="173" d="100"/>
          <a:sy n="173" d="100"/>
        </p:scale>
        <p:origin x="14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27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6325-4455-4301-B832-6B13FFEB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4D2C8-5AE1-AF72-D2D0-57BE9EAD9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447A4-A97F-B803-098E-0C845D949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EA219-722A-67B9-47C2-C48CB626C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score and round number consistent across </a:t>
            </a:r>
            <a:r>
              <a:rPr lang="en-US" sz="1200" dirty="0" err="1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20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re-renders taught us how state flows through any framework — a concept that applies everywhere.</a:t>
            </a:r>
            <a:endParaRPr lang="en-US" sz="1200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accidentally generated bimodal data while testing "normal" distributions. Small sample noise is real — we added a </a:t>
            </a:r>
            <a:r>
              <a:rPr lang="en-US" sz="1200" dirty="0" err="1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r>
              <a:rPr lang="en-US" sz="120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skewness check to catch it before every round.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0" y="13716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StatQuest</a:t>
            </a:r>
            <a:endParaRPr lang="en-US" sz="82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50" dirty="0">
                <a:solidFill>
                  <a:srgbClr val="799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you really know your stats?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2700000">
            <a:off x="4229100" y="2839212"/>
            <a:ext cx="100584" cy="100584"/>
          </a:xfrm>
          <a:prstGeom prst="rect">
            <a:avLst/>
          </a:prstGeom>
          <a:solidFill>
            <a:srgbClr val="ACC196"/>
          </a:solidFill>
          <a:ln w="1270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 rot="2700000">
            <a:off x="4542282" y="2878074"/>
            <a:ext cx="59436" cy="59436"/>
          </a:xfrm>
          <a:prstGeom prst="rect">
            <a:avLst/>
          </a:prstGeom>
          <a:solidFill>
            <a:srgbClr val="49475B"/>
          </a:solidFill>
          <a:ln w="1270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 rot="2700000">
            <a:off x="4814316" y="2839212"/>
            <a:ext cx="100584" cy="100584"/>
          </a:xfrm>
          <a:prstGeom prst="rect">
            <a:avLst/>
          </a:prstGeom>
          <a:solidFill>
            <a:srgbClr val="ACC196"/>
          </a:solidFill>
          <a:ln w="1270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0" y="4480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kern="0" spc="1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HSLU IIM STCSA ·  Final Project  · Kai Steinke &amp; Mauro Zappa · 11.05.2026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26187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9992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 a number.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17720" y="347472"/>
            <a:ext cx="42976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CC1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5095037" y="3746297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5275174" y="2970886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55310" y="413400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5635447" y="3164738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5815584" y="343613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5995721" y="2583180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6175858" y="3668756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6355994" y="2389327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6536131" y="2893344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6716268" y="200162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6896405" y="2660721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7076542" y="1807769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7256678" y="2505639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7436815" y="1497604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7616952" y="2195474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7797089" y="1226210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7977226" y="1885310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8157362" y="134252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8337499" y="1032358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8445581" y="1613916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2E293-2962-CF49-332D-074FCA8F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1A4A773-2A27-1E84-6380-339AE5722E13}"/>
              </a:ext>
            </a:extLst>
          </p:cNvPr>
          <p:cNvSpPr/>
          <p:nvPr/>
        </p:nvSpPr>
        <p:spPr>
          <a:xfrm>
            <a:off x="502920" y="126187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That’s the problem.</a:t>
            </a:r>
            <a:endParaRPr lang="en-US" sz="3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81853E-0981-1F6D-DA21-9C6C33CBC63F}"/>
              </a:ext>
            </a:extLst>
          </p:cNvPr>
          <p:cNvSpPr/>
          <p:nvPr/>
        </p:nvSpPr>
        <p:spPr>
          <a:xfrm>
            <a:off x="502920" y="29992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is something we calculate, not something we feel.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992A0F-8E0A-8408-F73B-5A2F48EC956B}"/>
              </a:ext>
            </a:extLst>
          </p:cNvPr>
          <p:cNvSpPr/>
          <p:nvPr/>
        </p:nvSpPr>
        <p:spPr>
          <a:xfrm>
            <a:off x="4617720" y="347472"/>
            <a:ext cx="42976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CC1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EBC919-3817-8D7A-D49A-02ED12519385}"/>
              </a:ext>
            </a:extLst>
          </p:cNvPr>
          <p:cNvSpPr/>
          <p:nvPr/>
        </p:nvSpPr>
        <p:spPr>
          <a:xfrm>
            <a:off x="5095037" y="3746297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B7A7362-5F4D-FE71-3926-0D5F20FB6D67}"/>
              </a:ext>
            </a:extLst>
          </p:cNvPr>
          <p:cNvSpPr/>
          <p:nvPr/>
        </p:nvSpPr>
        <p:spPr>
          <a:xfrm>
            <a:off x="5275174" y="2970886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7140D9A-FFA7-3C8D-D507-30399E1F7B3A}"/>
              </a:ext>
            </a:extLst>
          </p:cNvPr>
          <p:cNvSpPr/>
          <p:nvPr/>
        </p:nvSpPr>
        <p:spPr>
          <a:xfrm>
            <a:off x="5455310" y="413400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61C53A-5578-FCA3-5DBA-1705D8C7CA0E}"/>
              </a:ext>
            </a:extLst>
          </p:cNvPr>
          <p:cNvSpPr/>
          <p:nvPr/>
        </p:nvSpPr>
        <p:spPr>
          <a:xfrm>
            <a:off x="5635447" y="3164738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1B843F-AE82-DD3C-6FC0-20D56D3A2FA8}"/>
              </a:ext>
            </a:extLst>
          </p:cNvPr>
          <p:cNvSpPr/>
          <p:nvPr/>
        </p:nvSpPr>
        <p:spPr>
          <a:xfrm>
            <a:off x="5815584" y="343613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E798CE-E981-E671-7A86-BEBB8718BA70}"/>
              </a:ext>
            </a:extLst>
          </p:cNvPr>
          <p:cNvSpPr/>
          <p:nvPr/>
        </p:nvSpPr>
        <p:spPr>
          <a:xfrm>
            <a:off x="5995721" y="2583180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7A01FFF-C2DD-29DF-EFD2-0155A0262640}"/>
              </a:ext>
            </a:extLst>
          </p:cNvPr>
          <p:cNvSpPr/>
          <p:nvPr/>
        </p:nvSpPr>
        <p:spPr>
          <a:xfrm>
            <a:off x="6175858" y="3668756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2B32A3-A275-7AF1-C75C-A85B5F103CAC}"/>
              </a:ext>
            </a:extLst>
          </p:cNvPr>
          <p:cNvSpPr/>
          <p:nvPr/>
        </p:nvSpPr>
        <p:spPr>
          <a:xfrm>
            <a:off x="6355994" y="2389327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D8E94F-FD67-78A0-E5E7-7D6FD3966289}"/>
              </a:ext>
            </a:extLst>
          </p:cNvPr>
          <p:cNvSpPr/>
          <p:nvPr/>
        </p:nvSpPr>
        <p:spPr>
          <a:xfrm>
            <a:off x="6536131" y="2893344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8293FC5-F89D-9258-9574-E0B23B81F2B0}"/>
              </a:ext>
            </a:extLst>
          </p:cNvPr>
          <p:cNvSpPr/>
          <p:nvPr/>
        </p:nvSpPr>
        <p:spPr>
          <a:xfrm>
            <a:off x="6716268" y="200162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4B339BC-51B3-BBBE-1DF0-B9DE49BEA3DB}"/>
              </a:ext>
            </a:extLst>
          </p:cNvPr>
          <p:cNvSpPr/>
          <p:nvPr/>
        </p:nvSpPr>
        <p:spPr>
          <a:xfrm>
            <a:off x="6896405" y="2660721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E49BD03-E2B4-56C0-A3F2-644187454124}"/>
              </a:ext>
            </a:extLst>
          </p:cNvPr>
          <p:cNvSpPr/>
          <p:nvPr/>
        </p:nvSpPr>
        <p:spPr>
          <a:xfrm>
            <a:off x="7076542" y="1807769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996B878-5D0F-7C6C-C690-A1BA55C5D290}"/>
              </a:ext>
            </a:extLst>
          </p:cNvPr>
          <p:cNvSpPr/>
          <p:nvPr/>
        </p:nvSpPr>
        <p:spPr>
          <a:xfrm>
            <a:off x="7256678" y="2505639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DC58B01-76D9-51D8-1E4D-0AD8090079CF}"/>
              </a:ext>
            </a:extLst>
          </p:cNvPr>
          <p:cNvSpPr/>
          <p:nvPr/>
        </p:nvSpPr>
        <p:spPr>
          <a:xfrm>
            <a:off x="7436815" y="1497604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062876C-3DFF-7AC5-8CB2-DD1A14E42BD2}"/>
              </a:ext>
            </a:extLst>
          </p:cNvPr>
          <p:cNvSpPr/>
          <p:nvPr/>
        </p:nvSpPr>
        <p:spPr>
          <a:xfrm>
            <a:off x="7616952" y="2195474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1168176-30F6-94B4-9495-45D6B20EDD6E}"/>
              </a:ext>
            </a:extLst>
          </p:cNvPr>
          <p:cNvSpPr/>
          <p:nvPr/>
        </p:nvSpPr>
        <p:spPr>
          <a:xfrm>
            <a:off x="7797089" y="1226210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E4CD284-45BC-6FE2-5A54-EA60E3C955C0}"/>
              </a:ext>
            </a:extLst>
          </p:cNvPr>
          <p:cNvSpPr/>
          <p:nvPr/>
        </p:nvSpPr>
        <p:spPr>
          <a:xfrm>
            <a:off x="7977226" y="1885310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F3591AB-3FF3-0E78-9927-00DAE5F0A842}"/>
              </a:ext>
            </a:extLst>
          </p:cNvPr>
          <p:cNvSpPr/>
          <p:nvPr/>
        </p:nvSpPr>
        <p:spPr>
          <a:xfrm>
            <a:off x="8157362" y="1342522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2253EAB-2490-8136-D7F1-3EEC23DE0B14}"/>
              </a:ext>
            </a:extLst>
          </p:cNvPr>
          <p:cNvSpPr/>
          <p:nvPr/>
        </p:nvSpPr>
        <p:spPr>
          <a:xfrm>
            <a:off x="8337499" y="1032358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8DD269-D1DA-C2E3-4E12-5817CB9EAF78}"/>
              </a:ext>
            </a:extLst>
          </p:cNvPr>
          <p:cNvSpPr/>
          <p:nvPr/>
        </p:nvSpPr>
        <p:spPr>
          <a:xfrm>
            <a:off x="8445581" y="1613916"/>
            <a:ext cx="100584" cy="100584"/>
          </a:xfrm>
          <a:prstGeom prst="ellipse">
            <a:avLst/>
          </a:prstGeom>
          <a:solidFill>
            <a:srgbClr val="49475B"/>
          </a:solidFill>
          <a:ln w="381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B32F1750-8C4C-8016-511F-2DDA504B65D3}"/>
              </a:ext>
            </a:extLst>
          </p:cNvPr>
          <p:cNvSpPr/>
          <p:nvPr/>
        </p:nvSpPr>
        <p:spPr>
          <a:xfrm>
            <a:off x="5331409" y="4420128"/>
            <a:ext cx="3230575" cy="378357"/>
          </a:xfrm>
          <a:prstGeom prst="rect">
            <a:avLst/>
          </a:prstGeom>
          <a:solidFill>
            <a:srgbClr val="FFFFFF"/>
          </a:solidFill>
          <a:ln w="9525">
            <a:solidFill>
              <a:srgbClr val="E0DF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r = 0.88</a:t>
            </a:r>
            <a:endParaRPr lang="en-CH" dirty="0">
              <a:latin typeface="Georgia" panose="02040502050405020303" pitchFamily="18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D401A3CC-E088-FC91-AF28-0024F23C5439}"/>
              </a:ext>
            </a:extLst>
          </p:cNvPr>
          <p:cNvSpPr/>
          <p:nvPr/>
        </p:nvSpPr>
        <p:spPr>
          <a:xfrm>
            <a:off x="582016" y="4005985"/>
            <a:ext cx="3840480" cy="457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wanted to change that.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9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three mini-games.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6908" y="987552"/>
            <a:ext cx="2606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F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406908" y="987552"/>
            <a:ext cx="2606040" cy="1325880"/>
          </a:xfrm>
          <a:prstGeom prst="rect">
            <a:avLst/>
          </a:prstGeom>
          <a:solidFill>
            <a:srgbClr val="E9EB9E"/>
          </a:solidFill>
          <a:ln w="6350">
            <a:solidFill>
              <a:srgbClr val="E9EB9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406908" y="987552"/>
            <a:ext cx="64008" cy="3886200"/>
          </a:xfrm>
          <a:prstGeom prst="rect">
            <a:avLst/>
          </a:prstGeom>
          <a:solidFill>
            <a:srgbClr val="ACC196"/>
          </a:solidFill>
          <a:ln w="635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498348" y="1152144"/>
            <a:ext cx="24963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89788" y="2432304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 the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9788" y="3502152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slider to estimate r from a live scatter plot. 5 rounds.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9788" y="455371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CC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pts / round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8980" y="987552"/>
            <a:ext cx="2606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F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268980" y="987552"/>
            <a:ext cx="2606040" cy="1325880"/>
          </a:xfrm>
          <a:prstGeom prst="rect">
            <a:avLst/>
          </a:prstGeom>
          <a:solidFill>
            <a:srgbClr val="E9EB9E"/>
          </a:solidFill>
          <a:ln w="6350">
            <a:solidFill>
              <a:srgbClr val="E9EB9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3268980" y="987552"/>
            <a:ext cx="64008" cy="3886200"/>
          </a:xfrm>
          <a:prstGeom prst="rect">
            <a:avLst/>
          </a:prstGeom>
          <a:solidFill>
            <a:srgbClr val="799496"/>
          </a:solidFill>
          <a:ln w="6350">
            <a:solidFill>
              <a:srgbClr val="7994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360420" y="1152144"/>
            <a:ext cx="24963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51860" y="2432304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That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1860" y="3502152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whether a histogram is normal, skewed, bimodal, or uniform.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51860" y="455371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99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 / round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1052" y="987552"/>
            <a:ext cx="2606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F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6131052" y="987552"/>
            <a:ext cx="2606040" cy="1325880"/>
          </a:xfrm>
          <a:prstGeom prst="rect">
            <a:avLst/>
          </a:prstGeom>
          <a:solidFill>
            <a:srgbClr val="E9EB9E"/>
          </a:solidFill>
          <a:ln w="6350">
            <a:solidFill>
              <a:srgbClr val="E9EB9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6131052" y="987552"/>
            <a:ext cx="64008" cy="3886200"/>
          </a:xfrm>
          <a:prstGeom prst="rect">
            <a:avLst/>
          </a:prstGeom>
          <a:solidFill>
            <a:srgbClr val="49475B"/>
          </a:solidFill>
          <a:ln w="635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222492" y="1152144"/>
            <a:ext cx="24963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13932" y="2432304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13932" y="3502152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data point that doesn't belong. Z-score reveal after.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13932" y="455371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pts / round</a:t>
            </a:r>
            <a:endParaRPr lang="en-US" sz="1000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9715CB1-B0AD-50A7-01D3-916C51A81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7932" y="1322532"/>
            <a:ext cx="648000" cy="648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5F89549-5608-B9FD-6E23-552D48C12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8000" y="1322532"/>
            <a:ext cx="648000" cy="648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89338DB-25E1-CD66-3C6D-402E7F5A2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9508" y="1373436"/>
            <a:ext cx="648000" cy="6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hardcoded.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rot="2700000">
            <a:off x="502920" y="1444752"/>
            <a:ext cx="82296" cy="82296"/>
          </a:xfrm>
          <a:prstGeom prst="rect">
            <a:avLst/>
          </a:prstGeom>
          <a:solidFill>
            <a:srgbClr val="ACC196"/>
          </a:solidFill>
          <a:ln w="381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777240" y="1389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2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728216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947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Covariance matrix → mathematically guaranteed r, verified with scipy.stats.pearsonr()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505456"/>
            <a:ext cx="7955280" cy="0"/>
          </a:xfrm>
          <a:prstGeom prst="line">
            <a:avLst/>
          </a:prstGeom>
          <a:noFill/>
          <a:ln w="1270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 rot="2700000">
            <a:off x="502920" y="2660904"/>
            <a:ext cx="82296" cy="82296"/>
          </a:xfrm>
          <a:prstGeom prst="rect">
            <a:avLst/>
          </a:prstGeom>
          <a:solidFill>
            <a:srgbClr val="ACC196"/>
          </a:solidFill>
          <a:ln w="381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2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947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scipy.stats.skew() confirms the shape before every round — no accidental normals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721608"/>
            <a:ext cx="7955280" cy="0"/>
          </a:xfrm>
          <a:prstGeom prst="line">
            <a:avLst/>
          </a:prstGeom>
          <a:noFill/>
          <a:ln w="1270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 rot="2700000">
            <a:off x="502920" y="3877056"/>
            <a:ext cx="82296" cy="82296"/>
          </a:xfrm>
          <a:prstGeom prst="rect">
            <a:avLst/>
          </a:prstGeom>
          <a:solidFill>
            <a:srgbClr val="ACC196"/>
          </a:solidFill>
          <a:ln w="381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250" dirty="0">
                <a:solidFill>
                  <a:srgbClr val="49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947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injected at 2.5 – 4σ so difficulty is precise, not just visual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016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0" y="1188720"/>
            <a:ext cx="9144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i="1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demo.</a:t>
            </a:r>
            <a:endParaRPr lang="en-US" sz="9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051560"/>
            <a:ext cx="0" cy="3794760"/>
          </a:xfrm>
          <a:prstGeom prst="line">
            <a:avLst/>
          </a:prstGeom>
          <a:noFill/>
          <a:ln w="1524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799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state is harder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it looks.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799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samples lie.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83464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1408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is a lot more intuitive when you play with the data.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246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99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</a:t>
            </a:r>
            <a:r>
              <a:rPr lang="en-US" sz="1500">
                <a:solidFill>
                  <a:srgbClr val="799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attention.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rot="2700000">
            <a:off x="4229100" y="3863340"/>
            <a:ext cx="100584" cy="100584"/>
          </a:xfrm>
          <a:prstGeom prst="rect">
            <a:avLst/>
          </a:prstGeom>
          <a:solidFill>
            <a:srgbClr val="ACC196"/>
          </a:solidFill>
          <a:ln w="1270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 rot="2700000">
            <a:off x="4542282" y="3902202"/>
            <a:ext cx="59436" cy="59436"/>
          </a:xfrm>
          <a:prstGeom prst="rect">
            <a:avLst/>
          </a:prstGeom>
          <a:solidFill>
            <a:srgbClr val="49475B"/>
          </a:solidFill>
          <a:ln w="12700">
            <a:solidFill>
              <a:srgbClr val="49475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 rot="2700000">
            <a:off x="4814316" y="3863340"/>
            <a:ext cx="100584" cy="100584"/>
          </a:xfrm>
          <a:prstGeom prst="rect">
            <a:avLst/>
          </a:prstGeom>
          <a:solidFill>
            <a:srgbClr val="ACC196"/>
          </a:solidFill>
          <a:ln w="12700">
            <a:solidFill>
              <a:srgbClr val="ACC19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0" y="409651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4947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StatQuest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278</Words>
  <Application>Microsoft Office PowerPoint</Application>
  <PresentationFormat>On-screen Show (16:9)</PresentationFormat>
  <Paragraphs>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StatQuest</dc:title>
  <dc:subject>PptxGenJS Presentation</dc:subject>
  <dc:creator>PptxGenJS</dc:creator>
  <cp:lastModifiedBy>kai</cp:lastModifiedBy>
  <cp:revision>16</cp:revision>
  <dcterms:created xsi:type="dcterms:W3CDTF">2026-05-10T13:08:29Z</dcterms:created>
  <dcterms:modified xsi:type="dcterms:W3CDTF">2026-05-10T13:30:35Z</dcterms:modified>
</cp:coreProperties>
</file>